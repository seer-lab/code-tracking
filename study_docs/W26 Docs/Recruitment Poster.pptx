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711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79CC5F-4DC2-43F0-B9C1-AF5CA113EB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0F01048-1D7F-46DA-8A72-9157D77E7D80}">
      <dgm:prSet/>
      <dgm:spPr/>
      <dgm:t>
        <a:bodyPr/>
        <a:lstStyle/>
        <a:p>
          <a:r>
            <a:rPr lang="en-CA" dirty="0"/>
            <a:t>This study aims to understand how students program and write tests with and without AI code assistants to improve future course offerings</a:t>
          </a:r>
          <a:endParaRPr lang="en-US" dirty="0"/>
        </a:p>
      </dgm:t>
    </dgm:pt>
    <dgm:pt modelId="{407E0EA1-683D-4078-9EE8-BD0B328B807C}" type="parTrans" cxnId="{08F6728A-DB27-4A0E-8380-451ACC6EF75C}">
      <dgm:prSet/>
      <dgm:spPr/>
      <dgm:t>
        <a:bodyPr/>
        <a:lstStyle/>
        <a:p>
          <a:endParaRPr lang="en-US"/>
        </a:p>
      </dgm:t>
    </dgm:pt>
    <dgm:pt modelId="{7A1D7346-060E-4C54-BAB8-B9AD50F0E7A3}" type="sibTrans" cxnId="{08F6728A-DB27-4A0E-8380-451ACC6EF75C}">
      <dgm:prSet/>
      <dgm:spPr/>
      <dgm:t>
        <a:bodyPr/>
        <a:lstStyle/>
        <a:p>
          <a:endParaRPr lang="en-US"/>
        </a:p>
      </dgm:t>
    </dgm:pt>
    <dgm:pt modelId="{25F63B8C-3BFC-4218-9C29-E1579B7E3977}">
      <dgm:prSet/>
      <dgm:spPr/>
      <dgm:t>
        <a:bodyPr/>
        <a:lstStyle/>
        <a:p>
          <a:r>
            <a:rPr lang="en-CA"/>
            <a:t>Open to all students enrolled in CSCI 3060U – Software Quality Assurance</a:t>
          </a:r>
          <a:endParaRPr lang="en-US"/>
        </a:p>
      </dgm:t>
    </dgm:pt>
    <dgm:pt modelId="{F4B4C0F9-9EF2-40A4-A122-BD92E9DB91F6}" type="parTrans" cxnId="{297188F9-4235-405B-9B88-A7CEF891E729}">
      <dgm:prSet/>
      <dgm:spPr/>
      <dgm:t>
        <a:bodyPr/>
        <a:lstStyle/>
        <a:p>
          <a:endParaRPr lang="en-US"/>
        </a:p>
      </dgm:t>
    </dgm:pt>
    <dgm:pt modelId="{C7BC7C2B-3064-47B2-9C2E-BD645930E4E9}" type="sibTrans" cxnId="{297188F9-4235-405B-9B88-A7CEF891E729}">
      <dgm:prSet/>
      <dgm:spPr/>
      <dgm:t>
        <a:bodyPr/>
        <a:lstStyle/>
        <a:p>
          <a:endParaRPr lang="en-US"/>
        </a:p>
      </dgm:t>
    </dgm:pt>
    <dgm:pt modelId="{C4404A30-A6AE-4C2F-A810-F4316F05F4A7}">
      <dgm:prSet/>
      <dgm:spPr/>
      <dgm:t>
        <a:bodyPr/>
        <a:lstStyle/>
        <a:p>
          <a:r>
            <a:rPr lang="en-US"/>
            <a:t>Completed within lab sessions the week of April 6-10</a:t>
          </a:r>
          <a:endParaRPr lang="en-US" dirty="0"/>
        </a:p>
      </dgm:t>
    </dgm:pt>
    <dgm:pt modelId="{9A233AE5-F035-4954-95CA-B9AA2D6AFE72}" type="parTrans" cxnId="{D4531706-B3FB-41DE-A343-D1D850418C68}">
      <dgm:prSet/>
      <dgm:spPr/>
      <dgm:t>
        <a:bodyPr/>
        <a:lstStyle/>
        <a:p>
          <a:endParaRPr lang="en-US"/>
        </a:p>
      </dgm:t>
    </dgm:pt>
    <dgm:pt modelId="{FEB2AEE8-7570-491E-BC4C-738E17DBBB9C}" type="sibTrans" cxnId="{D4531706-B3FB-41DE-A343-D1D850418C68}">
      <dgm:prSet/>
      <dgm:spPr/>
      <dgm:t>
        <a:bodyPr/>
        <a:lstStyle/>
        <a:p>
          <a:endParaRPr lang="en-US"/>
        </a:p>
      </dgm:t>
    </dgm:pt>
    <dgm:pt modelId="{AA6A9DB6-442C-4683-827F-74EF3DECC318}" type="pres">
      <dgm:prSet presAssocID="{3B79CC5F-4DC2-43F0-B9C1-AF5CA113EB53}" presName="root" presStyleCnt="0">
        <dgm:presLayoutVars>
          <dgm:dir/>
          <dgm:resizeHandles val="exact"/>
        </dgm:presLayoutVars>
      </dgm:prSet>
      <dgm:spPr/>
    </dgm:pt>
    <dgm:pt modelId="{2E758358-BBF9-40B8-874C-8249C0EA2851}" type="pres">
      <dgm:prSet presAssocID="{A0F01048-1D7F-46DA-8A72-9157D77E7D80}" presName="compNode" presStyleCnt="0"/>
      <dgm:spPr/>
    </dgm:pt>
    <dgm:pt modelId="{78791EAC-D3B2-489D-BC59-72E353F755B0}" type="pres">
      <dgm:prSet presAssocID="{A0F01048-1D7F-46DA-8A72-9157D77E7D80}" presName="bgRect" presStyleLbl="bgShp" presStyleIdx="0" presStyleCnt="3"/>
      <dgm:spPr/>
    </dgm:pt>
    <dgm:pt modelId="{52ADC5F1-AF75-4A37-BB25-6031080975DE}" type="pres">
      <dgm:prSet presAssocID="{A0F01048-1D7F-46DA-8A72-9157D77E7D8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63C2E46-0FF8-4B07-AA93-1A3A5F465313}" type="pres">
      <dgm:prSet presAssocID="{A0F01048-1D7F-46DA-8A72-9157D77E7D80}" presName="spaceRect" presStyleCnt="0"/>
      <dgm:spPr/>
    </dgm:pt>
    <dgm:pt modelId="{D75FEA57-8A53-4A0D-9EDB-C45D042CC70F}" type="pres">
      <dgm:prSet presAssocID="{A0F01048-1D7F-46DA-8A72-9157D77E7D80}" presName="parTx" presStyleLbl="revTx" presStyleIdx="0" presStyleCnt="3">
        <dgm:presLayoutVars>
          <dgm:chMax val="0"/>
          <dgm:chPref val="0"/>
        </dgm:presLayoutVars>
      </dgm:prSet>
      <dgm:spPr/>
    </dgm:pt>
    <dgm:pt modelId="{107E310C-EB77-42B9-9D35-2F28614AFA35}" type="pres">
      <dgm:prSet presAssocID="{7A1D7346-060E-4C54-BAB8-B9AD50F0E7A3}" presName="sibTrans" presStyleCnt="0"/>
      <dgm:spPr/>
    </dgm:pt>
    <dgm:pt modelId="{2D7FC68C-A0B7-438C-8980-5737CC13602D}" type="pres">
      <dgm:prSet presAssocID="{25F63B8C-3BFC-4218-9C29-E1579B7E3977}" presName="compNode" presStyleCnt="0"/>
      <dgm:spPr/>
    </dgm:pt>
    <dgm:pt modelId="{B194BFE1-6D97-4CC6-8BAC-C6FBF55E6AE3}" type="pres">
      <dgm:prSet presAssocID="{25F63B8C-3BFC-4218-9C29-E1579B7E3977}" presName="bgRect" presStyleLbl="bgShp" presStyleIdx="1" presStyleCnt="3"/>
      <dgm:spPr/>
    </dgm:pt>
    <dgm:pt modelId="{58A218CA-AEA6-4787-AD61-C7DE8DBF329F}" type="pres">
      <dgm:prSet presAssocID="{25F63B8C-3BFC-4218-9C29-E1579B7E39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F1AEFB1-F59E-41F7-A422-786D05BDC969}" type="pres">
      <dgm:prSet presAssocID="{25F63B8C-3BFC-4218-9C29-E1579B7E3977}" presName="spaceRect" presStyleCnt="0"/>
      <dgm:spPr/>
    </dgm:pt>
    <dgm:pt modelId="{88BADEE1-71BA-420C-B3E7-BBED3F10BB0E}" type="pres">
      <dgm:prSet presAssocID="{25F63B8C-3BFC-4218-9C29-E1579B7E3977}" presName="parTx" presStyleLbl="revTx" presStyleIdx="1" presStyleCnt="3">
        <dgm:presLayoutVars>
          <dgm:chMax val="0"/>
          <dgm:chPref val="0"/>
        </dgm:presLayoutVars>
      </dgm:prSet>
      <dgm:spPr/>
    </dgm:pt>
    <dgm:pt modelId="{F3B6F62E-293E-4C44-A749-4AE060E0F460}" type="pres">
      <dgm:prSet presAssocID="{C7BC7C2B-3064-47B2-9C2E-BD645930E4E9}" presName="sibTrans" presStyleCnt="0"/>
      <dgm:spPr/>
    </dgm:pt>
    <dgm:pt modelId="{D074F1E0-69FB-40BA-A119-F52A1E295B52}" type="pres">
      <dgm:prSet presAssocID="{C4404A30-A6AE-4C2F-A810-F4316F05F4A7}" presName="compNode" presStyleCnt="0"/>
      <dgm:spPr/>
    </dgm:pt>
    <dgm:pt modelId="{4BF69A62-CBDD-4404-A8A1-F7338CABE659}" type="pres">
      <dgm:prSet presAssocID="{C4404A30-A6AE-4C2F-A810-F4316F05F4A7}" presName="bgRect" presStyleLbl="bgShp" presStyleIdx="2" presStyleCnt="3"/>
      <dgm:spPr/>
    </dgm:pt>
    <dgm:pt modelId="{461B330D-D173-4A5C-8B54-4DF37829D8AD}" type="pres">
      <dgm:prSet presAssocID="{C4404A30-A6AE-4C2F-A810-F4316F05F4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BF3DDE-4514-45D2-BA53-4D3B5762ACEA}" type="pres">
      <dgm:prSet presAssocID="{C4404A30-A6AE-4C2F-A810-F4316F05F4A7}" presName="spaceRect" presStyleCnt="0"/>
      <dgm:spPr/>
    </dgm:pt>
    <dgm:pt modelId="{F690CA95-AE89-4556-B56B-A6FD0485837E}" type="pres">
      <dgm:prSet presAssocID="{C4404A30-A6AE-4C2F-A810-F4316F05F4A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531706-B3FB-41DE-A343-D1D850418C68}" srcId="{3B79CC5F-4DC2-43F0-B9C1-AF5CA113EB53}" destId="{C4404A30-A6AE-4C2F-A810-F4316F05F4A7}" srcOrd="2" destOrd="0" parTransId="{9A233AE5-F035-4954-95CA-B9AA2D6AFE72}" sibTransId="{FEB2AEE8-7570-491E-BC4C-738E17DBBB9C}"/>
    <dgm:cxn modelId="{864D2208-D090-463B-94E9-FAAEE3EF841B}" type="presOf" srcId="{25F63B8C-3BFC-4218-9C29-E1579B7E3977}" destId="{88BADEE1-71BA-420C-B3E7-BBED3F10BB0E}" srcOrd="0" destOrd="0" presId="urn:microsoft.com/office/officeart/2018/2/layout/IconVerticalSolidList"/>
    <dgm:cxn modelId="{BD4CC718-4D55-4AA3-B437-633F9D5EB27D}" type="presOf" srcId="{A0F01048-1D7F-46DA-8A72-9157D77E7D80}" destId="{D75FEA57-8A53-4A0D-9EDB-C45D042CC70F}" srcOrd="0" destOrd="0" presId="urn:microsoft.com/office/officeart/2018/2/layout/IconVerticalSolidList"/>
    <dgm:cxn modelId="{769C2F76-55AE-4A01-85EE-AFA9FDD89944}" type="presOf" srcId="{3B79CC5F-4DC2-43F0-B9C1-AF5CA113EB53}" destId="{AA6A9DB6-442C-4683-827F-74EF3DECC318}" srcOrd="0" destOrd="0" presId="urn:microsoft.com/office/officeart/2018/2/layout/IconVerticalSolidList"/>
    <dgm:cxn modelId="{E0A7E487-D8B8-47BF-B171-A20B07E4577F}" type="presOf" srcId="{C4404A30-A6AE-4C2F-A810-F4316F05F4A7}" destId="{F690CA95-AE89-4556-B56B-A6FD0485837E}" srcOrd="0" destOrd="0" presId="urn:microsoft.com/office/officeart/2018/2/layout/IconVerticalSolidList"/>
    <dgm:cxn modelId="{08F6728A-DB27-4A0E-8380-451ACC6EF75C}" srcId="{3B79CC5F-4DC2-43F0-B9C1-AF5CA113EB53}" destId="{A0F01048-1D7F-46DA-8A72-9157D77E7D80}" srcOrd="0" destOrd="0" parTransId="{407E0EA1-683D-4078-9EE8-BD0B328B807C}" sibTransId="{7A1D7346-060E-4C54-BAB8-B9AD50F0E7A3}"/>
    <dgm:cxn modelId="{297188F9-4235-405B-9B88-A7CEF891E729}" srcId="{3B79CC5F-4DC2-43F0-B9C1-AF5CA113EB53}" destId="{25F63B8C-3BFC-4218-9C29-E1579B7E3977}" srcOrd="1" destOrd="0" parTransId="{F4B4C0F9-9EF2-40A4-A122-BD92E9DB91F6}" sibTransId="{C7BC7C2B-3064-47B2-9C2E-BD645930E4E9}"/>
    <dgm:cxn modelId="{60D712A1-1BB4-43F1-B561-671DA7C1B601}" type="presParOf" srcId="{AA6A9DB6-442C-4683-827F-74EF3DECC318}" destId="{2E758358-BBF9-40B8-874C-8249C0EA2851}" srcOrd="0" destOrd="0" presId="urn:microsoft.com/office/officeart/2018/2/layout/IconVerticalSolidList"/>
    <dgm:cxn modelId="{E70BD6CA-A0E2-47CC-8CF0-55BBA69C9C81}" type="presParOf" srcId="{2E758358-BBF9-40B8-874C-8249C0EA2851}" destId="{78791EAC-D3B2-489D-BC59-72E353F755B0}" srcOrd="0" destOrd="0" presId="urn:microsoft.com/office/officeart/2018/2/layout/IconVerticalSolidList"/>
    <dgm:cxn modelId="{C33CB6F0-8173-4E47-ABA3-61E3C6ACBE74}" type="presParOf" srcId="{2E758358-BBF9-40B8-874C-8249C0EA2851}" destId="{52ADC5F1-AF75-4A37-BB25-6031080975DE}" srcOrd="1" destOrd="0" presId="urn:microsoft.com/office/officeart/2018/2/layout/IconVerticalSolidList"/>
    <dgm:cxn modelId="{38F501E1-890B-409F-8FD1-34B6D41AB4B6}" type="presParOf" srcId="{2E758358-BBF9-40B8-874C-8249C0EA2851}" destId="{B63C2E46-0FF8-4B07-AA93-1A3A5F465313}" srcOrd="2" destOrd="0" presId="urn:microsoft.com/office/officeart/2018/2/layout/IconVerticalSolidList"/>
    <dgm:cxn modelId="{594B206D-9342-4602-8F90-6884056BABEF}" type="presParOf" srcId="{2E758358-BBF9-40B8-874C-8249C0EA2851}" destId="{D75FEA57-8A53-4A0D-9EDB-C45D042CC70F}" srcOrd="3" destOrd="0" presId="urn:microsoft.com/office/officeart/2018/2/layout/IconVerticalSolidList"/>
    <dgm:cxn modelId="{BC4C26CE-8604-4EAE-8B0F-34AFFA365963}" type="presParOf" srcId="{AA6A9DB6-442C-4683-827F-74EF3DECC318}" destId="{107E310C-EB77-42B9-9D35-2F28614AFA35}" srcOrd="1" destOrd="0" presId="urn:microsoft.com/office/officeart/2018/2/layout/IconVerticalSolidList"/>
    <dgm:cxn modelId="{DDB8AD31-BA07-45E7-9687-444E7FED922A}" type="presParOf" srcId="{AA6A9DB6-442C-4683-827F-74EF3DECC318}" destId="{2D7FC68C-A0B7-438C-8980-5737CC13602D}" srcOrd="2" destOrd="0" presId="urn:microsoft.com/office/officeart/2018/2/layout/IconVerticalSolidList"/>
    <dgm:cxn modelId="{AC68DAFD-5EE1-4826-9329-6820E7197F60}" type="presParOf" srcId="{2D7FC68C-A0B7-438C-8980-5737CC13602D}" destId="{B194BFE1-6D97-4CC6-8BAC-C6FBF55E6AE3}" srcOrd="0" destOrd="0" presId="urn:microsoft.com/office/officeart/2018/2/layout/IconVerticalSolidList"/>
    <dgm:cxn modelId="{8AD3803D-F4A9-4693-8384-057484FBA786}" type="presParOf" srcId="{2D7FC68C-A0B7-438C-8980-5737CC13602D}" destId="{58A218CA-AEA6-4787-AD61-C7DE8DBF329F}" srcOrd="1" destOrd="0" presId="urn:microsoft.com/office/officeart/2018/2/layout/IconVerticalSolidList"/>
    <dgm:cxn modelId="{F1B3AF3C-C7FC-4E03-B354-1EF521BA6DED}" type="presParOf" srcId="{2D7FC68C-A0B7-438C-8980-5737CC13602D}" destId="{9F1AEFB1-F59E-41F7-A422-786D05BDC969}" srcOrd="2" destOrd="0" presId="urn:microsoft.com/office/officeart/2018/2/layout/IconVerticalSolidList"/>
    <dgm:cxn modelId="{9F9B6E28-C09B-436B-9C10-5FBC89E84C61}" type="presParOf" srcId="{2D7FC68C-A0B7-438C-8980-5737CC13602D}" destId="{88BADEE1-71BA-420C-B3E7-BBED3F10BB0E}" srcOrd="3" destOrd="0" presId="urn:microsoft.com/office/officeart/2018/2/layout/IconVerticalSolidList"/>
    <dgm:cxn modelId="{53546DC1-A159-4691-9B43-004B04A8CF0B}" type="presParOf" srcId="{AA6A9DB6-442C-4683-827F-74EF3DECC318}" destId="{F3B6F62E-293E-4C44-A749-4AE060E0F460}" srcOrd="3" destOrd="0" presId="urn:microsoft.com/office/officeart/2018/2/layout/IconVerticalSolidList"/>
    <dgm:cxn modelId="{D996530B-686D-4838-B3A0-DB9D819D6124}" type="presParOf" srcId="{AA6A9DB6-442C-4683-827F-74EF3DECC318}" destId="{D074F1E0-69FB-40BA-A119-F52A1E295B52}" srcOrd="4" destOrd="0" presId="urn:microsoft.com/office/officeart/2018/2/layout/IconVerticalSolidList"/>
    <dgm:cxn modelId="{6A5BEAC1-F3B6-4626-807E-C4E685B8731D}" type="presParOf" srcId="{D074F1E0-69FB-40BA-A119-F52A1E295B52}" destId="{4BF69A62-CBDD-4404-A8A1-F7338CABE659}" srcOrd="0" destOrd="0" presId="urn:microsoft.com/office/officeart/2018/2/layout/IconVerticalSolidList"/>
    <dgm:cxn modelId="{337CB5F4-34F4-41D9-9DCF-71F13FADE2A8}" type="presParOf" srcId="{D074F1E0-69FB-40BA-A119-F52A1E295B52}" destId="{461B330D-D173-4A5C-8B54-4DF37829D8AD}" srcOrd="1" destOrd="0" presId="urn:microsoft.com/office/officeart/2018/2/layout/IconVerticalSolidList"/>
    <dgm:cxn modelId="{B9DD7C8A-F0ED-4BB7-BB0B-777445CF3FB8}" type="presParOf" srcId="{D074F1E0-69FB-40BA-A119-F52A1E295B52}" destId="{41BF3DDE-4514-45D2-BA53-4D3B5762ACEA}" srcOrd="2" destOrd="0" presId="urn:microsoft.com/office/officeart/2018/2/layout/IconVerticalSolidList"/>
    <dgm:cxn modelId="{A2F04003-317F-4F81-BF48-7F5CD88ECCD0}" type="presParOf" srcId="{D074F1E0-69FB-40BA-A119-F52A1E295B52}" destId="{F690CA95-AE89-4556-B56B-A6FD048583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91EAC-D3B2-489D-BC59-72E353F755B0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ADC5F1-AF75-4A37-BB25-6031080975DE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FEA57-8A53-4A0D-9EDB-C45D042CC70F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 dirty="0"/>
            <a:t>This study aims to understand how students program and write tests with and without AI code assistants to improve future course offerings</a:t>
          </a:r>
          <a:endParaRPr lang="en-US" sz="2100" kern="1200" dirty="0"/>
        </a:p>
      </dsp:txBody>
      <dsp:txXfrm>
        <a:off x="1819120" y="673"/>
        <a:ext cx="4545103" cy="1574995"/>
      </dsp:txXfrm>
    </dsp:sp>
    <dsp:sp modelId="{B194BFE1-6D97-4CC6-8BAC-C6FBF55E6AE3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218CA-AEA6-4787-AD61-C7DE8DBF329F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ADEE1-71BA-420C-B3E7-BBED3F10BB0E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100" kern="1200"/>
            <a:t>Open to all students enrolled in CSCI 3060U – Software Quality Assurance</a:t>
          </a:r>
          <a:endParaRPr lang="en-US" sz="2100" kern="1200"/>
        </a:p>
      </dsp:txBody>
      <dsp:txXfrm>
        <a:off x="1819120" y="1969418"/>
        <a:ext cx="4545103" cy="1574995"/>
      </dsp:txXfrm>
    </dsp:sp>
    <dsp:sp modelId="{4BF69A62-CBDD-4404-A8A1-F7338CABE659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B330D-D173-4A5C-8B54-4DF37829D8AD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A95-AE89-4556-B56B-A6FD0485837E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Completed within lab sessions the week of April 6-10</a:t>
          </a:r>
          <a:endParaRPr lang="en-US" sz="2100" kern="1200" dirty="0"/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542F-DB27-65CD-2215-A8754980B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13510-3C27-B641-8AD6-FEFB24B3A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49A31-467E-B0F9-8667-124BC8A2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493DD-BDA8-9173-F5A4-11778319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D8E27-96A7-5073-6278-217C2292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915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A8DD-CC8E-3934-7C9E-07DD5446E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C156-5106-80A7-E4A6-A7D2E5460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34162-E36C-9685-74E6-204ED9ADB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64294-191C-4DA6-D3C1-DB9465CE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E277C-F604-971F-E8A8-BBA7A800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50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3F1F-90FA-A09B-E09D-3053AC35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2A3FA-1AF9-6EED-18D1-0616F473F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DF68-C7E7-E5E5-EBBE-F8D663AD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3C24D-E45C-F2F3-EF8B-61D755EF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76888-DA6C-B184-2521-E0C7084F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329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59D6-2B37-FCEB-CCB7-1D142DBC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8CD93-7402-84D9-51A4-5FBCB41C1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801DD-82C4-69DB-AC14-67EF35446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974B7-C80B-FA27-2FA4-FEDB1785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F3DB2-CE54-8553-147E-7D8B988E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8800E-7D4D-E451-6897-6E6656D2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304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16F1-B76F-D7C9-BB4C-CCB5DA0C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A7312-1370-7797-75D6-F9B4DA92F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12FF8-E533-AA89-060A-2F5A9049C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50034-A897-B630-25B1-93F0E98C6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E81FB-C950-4D6C-8754-C82527221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CE030-AF9F-3398-762D-6649BED5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59268-D89E-C538-E024-12326B7E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A7149-E8FB-F68E-78F0-911CC0DA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980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972F0-7003-6DC2-7ED8-DB476CE7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2CE22-3139-BDD0-F334-3B1866E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60316-2EFA-A5B4-38E2-73E09710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31110-B235-9C5E-29D3-5AA74B5C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704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3FB80-C7BF-4CFB-9F4E-7FA79E5D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BA48B-F7A6-FF8D-471E-6BA9A32B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A734-D0BD-4AC0-FD23-ED7B2E6B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45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998E-9388-173C-F11A-B6FE6FA87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656B4-714B-861E-1E94-6B9597BCD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4B9E3-E252-53E0-F706-512A70849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F6255-A4F8-9F5C-A84F-9CEC037A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CC2BE-CFF1-BF74-0E42-A5FFFB31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B2B60-363E-3008-2535-57B930F19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84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BE81-960E-EDF5-9FFB-D6537ECC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948ED9-7822-5965-A733-2736E6591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472B1-5AC6-711C-6B53-657B329B7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FE10B-0238-2947-AC00-DF7898DE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AFB7E-F7DC-6649-82B1-CEF40A16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A1E4-03A1-4511-EC01-BFA7F574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66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3510-9B04-0644-18EE-15DAEBFB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150C9-59E7-3077-39E5-A85EC84D7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C6DF-EC30-FA46-BCA6-C83E9F33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A4C10-87BF-EA98-F836-A1F906A4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690AB-F268-3198-AD44-27DAB13F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723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252A1-6B71-E215-018A-A7F5F778A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92FF0-0627-696C-5AC7-AEB58AFB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BAE82-67AD-3916-BA22-7F595838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DC44-CE61-FDA4-0700-8F6507BF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36E1-E3BF-E80C-4B68-965CA327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787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23B52D-0193-9DE6-D5FA-F24F86D4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3A9B0-17E4-BCFB-C651-FE284E2D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0F429-522E-6104-1D1E-4A1849EB3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30D07-0CC6-4635-A3AB-A757C4F9DF31}" type="datetimeFigureOut">
              <a:rPr lang="en-CA" smtClean="0"/>
              <a:t>2026-04-04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D1F4-8F17-B782-617E-310AC9E88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4C5C-2356-5957-5C27-00E35852D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6163D-6A14-4CE3-A458-0161AEE2C0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5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mailto:jeremy.bradbury@ontariotechu.ca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25C21-A4AB-9029-CB11-BE7D2744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 fontScale="90000"/>
          </a:bodyPr>
          <a:lstStyle/>
          <a:p>
            <a:r>
              <a:rPr lang="en-CA" dirty="0"/>
              <a:t>Exploring Student Testing Patterns in a Software Quality Assurance Course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E8A2A0A-200D-439E-4FCF-1D47DA718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249585"/>
              </p:ext>
            </p:extLst>
          </p:nvPr>
        </p:nvGraphicFramePr>
        <p:xfrm>
          <a:off x="5303520" y="246888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6C55817-E699-F262-CDC5-1437A4CF2509}"/>
              </a:ext>
            </a:extLst>
          </p:cNvPr>
          <p:cNvSpPr txBox="1"/>
          <p:nvPr/>
        </p:nvSpPr>
        <p:spPr>
          <a:xfrm>
            <a:off x="323934" y="5687568"/>
            <a:ext cx="115441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This study has been reviewed by the Ontario Tech University Research Ethics Board REB #18160 on March 12, 2025</a:t>
            </a:r>
            <a:endParaRPr lang="en-CA" dirty="0"/>
          </a:p>
          <a:p>
            <a:pPr marL="0" indent="0">
              <a:buNone/>
            </a:pPr>
            <a:r>
              <a:rPr lang="en-CA" sz="1800" dirty="0"/>
              <a:t>Details on participating in the study will be shared in a future lab by your TA</a:t>
            </a:r>
          </a:p>
          <a:p>
            <a:pPr marL="0" indent="0">
              <a:buNone/>
            </a:pPr>
            <a:r>
              <a:rPr lang="en-CA" sz="1800" dirty="0"/>
              <a:t>If you have any questions concerning the study, please contact the principal investigator at </a:t>
            </a:r>
            <a:r>
              <a:rPr lang="en-CA" sz="1800" err="1">
                <a:hlinkClick r:id="rId7"/>
              </a:rPr>
              <a:t>jeremy</a:t>
            </a:r>
            <a:r>
              <a:rPr lang="en-CA" sz="1800">
                <a:hlinkClick r:id="rId7"/>
              </a:rPr>
              <a:t>.</a:t>
            </a:r>
            <a:r>
              <a:rPr lang="en-CA">
                <a:hlinkClick r:id="rId7"/>
              </a:rPr>
              <a:t>b</a:t>
            </a:r>
            <a:r>
              <a:rPr lang="en-CA" sz="1800">
                <a:hlinkClick r:id="rId7"/>
              </a:rPr>
              <a:t>radbury@ontariotechu.ca</a:t>
            </a:r>
            <a:r>
              <a:rPr lang="en-CA" sz="1800"/>
              <a:t> 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7251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Exploring Student Testing Patterns in a Software Quality Assurance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Hinbest</dc:creator>
  <cp:lastModifiedBy>Daniel Hinbest</cp:lastModifiedBy>
  <cp:revision>6</cp:revision>
  <dcterms:created xsi:type="dcterms:W3CDTF">2025-01-29T00:27:49Z</dcterms:created>
  <dcterms:modified xsi:type="dcterms:W3CDTF">2026-04-04T20:00:17Z</dcterms:modified>
</cp:coreProperties>
</file>